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085"/>
                </a:solidFill>
                <a:latin typeface="Arial"/>
              </a:defRPr>
            </a:pPr>
            <a:r>
              <a:t>PRE-LAUNCH MARKETING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5F5F5"/>
                </a:solidFill>
                <a:latin typeface="Arial"/>
              </a:defRPr>
            </a:pPr>
            <a:r>
              <a:t>Bootstrap Your Way</a:t>
            </a:r>
            <a:br/>
            <a:r>
              <a:t>to Market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5A5A6"/>
                </a:solidFill>
                <a:latin typeface="Arial"/>
              </a:defRPr>
            </a:pPr>
            <a:r>
              <a:t>B2B App Launch Strategy • Zero to First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634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  <a:latin typeface="Arial"/>
              </a:defRPr>
            </a:pPr>
            <a:r>
              <a:t>Strategic Marketing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3840480" cy="22860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  <a:latin typeface="Arial"/>
              </a:defRPr>
            </a:pPr>
            <a:r>
              <a:t>Launch big on a small budget by focusing on high-impact, low-cost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FFF0"/>
                </a:solidFill>
                <a:latin typeface="Arial"/>
              </a:defRPr>
            </a:pPr>
            <a:r>
              <a:t>With $0-1K budget, we prioritize organic channels, strategic partnerships, and community building to acquire your first 100 enterprise customers.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822960"/>
            <a:ext cx="2103120" cy="10058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005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A085"/>
                </a:solidFill>
                <a:latin typeface="Arial"/>
              </a:defRPr>
            </a:pPr>
            <a:r>
              <a:t>3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Arial"/>
              </a:defRPr>
            </a:pPr>
            <a:r>
              <a:t>Timeline to first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822960"/>
            <a:ext cx="2103120" cy="10058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005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  <a:latin typeface="Arial"/>
              </a:defRPr>
            </a:pPr>
            <a:r>
              <a:t>$0-1K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Arial"/>
              </a:defRPr>
            </a:pPr>
            <a:r>
              <a:t>Initial marketing spend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965960"/>
            <a:ext cx="2103120" cy="10058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5F5"/>
                </a:solidFill>
                <a:latin typeface="Arial"/>
              </a:defRPr>
            </a:pPr>
            <a:r>
              <a:t>5 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06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Arial"/>
              </a:defRPr>
            </a:pPr>
            <a:r>
              <a:t>High-ROI focus areas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1965960"/>
            <a:ext cx="2103120" cy="10058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A085"/>
                </a:solidFill>
                <a:latin typeface="Arial"/>
              </a:defRPr>
            </a:pPr>
            <a:r>
              <a:t>100+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606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Arial"/>
              </a:defRPr>
            </a:pPr>
            <a:r>
              <a:t>Target waitlist signups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Arial"/>
              </a:defRPr>
            </a:pPr>
            <a:r>
              <a:t>Pre-launch B2B Marketing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"/>
              </a:defRPr>
            </a:pPr>
            <a:r>
              <a:t>Pre-Launch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Arial"/>
              </a:defRPr>
            </a:pPr>
            <a:r>
              <a:t>12-Week Strategic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2651760" cy="36576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5F5"/>
                </a:solidFill>
                <a:latin typeface="Arial"/>
              </a:defRPr>
            </a:pPr>
            <a:r>
              <a:t>WEEKS 1-4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51760" cy="30175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A085"/>
                </a:solidFill>
                <a:latin typeface="Arial"/>
              </a:defRPr>
            </a:pPr>
            <a: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• Define ICP and value proposition</a:t>
            </a:r>
            <a:br/>
            <a:r>
              <a:t>• Build landing page with waitlist</a:t>
            </a:r>
            <a:br/>
            <a:r>
              <a:t>• Set up LinkedIn presence</a:t>
            </a:r>
            <a:br/>
            <a:r>
              <a:t>• Create content calendar</a:t>
            </a:r>
            <a:br/>
            <a:r>
              <a:t>• Identify 50 target accounts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051560"/>
            <a:ext cx="2651760" cy="36576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097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5F5"/>
                </a:solidFill>
                <a:latin typeface="Arial"/>
              </a:defRPr>
            </a:pPr>
            <a:r>
              <a:t>WEEKS 5-8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417320"/>
            <a:ext cx="2651760" cy="30175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Arial"/>
              </a:defRPr>
            </a:pPr>
            <a:r>
              <a:t>Momentum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7451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• Launch content marketing</a:t>
            </a:r>
            <a:br/>
            <a:r>
              <a:t>• Begin outbound outreach</a:t>
            </a:r>
            <a:br/>
            <a:r>
              <a:t>• Join relevant communities</a:t>
            </a:r>
            <a:br/>
            <a:r>
              <a:t>• Start podcast guesting</a:t>
            </a:r>
            <a:br/>
            <a:r>
              <a:t>• Build strategic partnerships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051560"/>
            <a:ext cx="2651760" cy="36576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097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5F5"/>
                </a:solidFill>
                <a:latin typeface="Arial"/>
              </a:defRPr>
            </a:pPr>
            <a:r>
              <a:t>WEEKS 9-12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417320"/>
            <a:ext cx="2651760" cy="30175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5F5"/>
                </a:solidFill>
                <a:latin typeface="Arial"/>
              </a:defRPr>
            </a:pPr>
            <a:r>
              <a:t>Launch Prep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7451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• Convert waitlist to beta users</a:t>
            </a:r>
            <a:br/>
            <a:r>
              <a:t>• Collect early testimonials</a:t>
            </a:r>
            <a:br/>
            <a:r>
              <a:t>• Prepare launch announcements</a:t>
            </a:r>
            <a:br/>
            <a:r>
              <a:t>• Plan Product Hunt launch</a:t>
            </a:r>
            <a:br/>
            <a:r>
              <a:t>• Finalize pricing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6A085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2560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Arial"/>
              </a:defRPr>
            </a:pPr>
            <a:r>
              <a:t>Adjust timeline based on your specific development progress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"/>
              </a:defRPr>
            </a:pPr>
            <a:r>
              <a:t>Channel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Arial"/>
              </a:defRPr>
            </a:pPr>
            <a:r>
              <a:t>Prioritized by Cost-Effectiveness and B2B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606040" cy="12344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6576" cy="12344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7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085"/>
                </a:solidFill>
                <a:latin typeface="Arial"/>
              </a:defRPr>
            </a:pPr>
            <a:r>
              <a:t>LinkedIn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207007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6A085"/>
                </a:solidFill>
                <a:latin typeface="Arial"/>
              </a:defRPr>
            </a:pPr>
            <a: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Daily posts, thought leadership, direct outreach to decision-makers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097280"/>
            <a:ext cx="2606040" cy="12344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97280"/>
            <a:ext cx="36576" cy="12344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207007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085"/>
                </a:solidFill>
                <a:latin typeface="Arial"/>
              </a:defRPr>
            </a:pPr>
            <a:r>
              <a:t>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207007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6A085"/>
                </a:solidFill>
                <a:latin typeface="Arial"/>
              </a:defRPr>
            </a:pPr>
            <a:r>
              <a:t>$0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Blog posts, case studies, how-to guides targeting pain 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097280"/>
            <a:ext cx="2606040" cy="12344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097280"/>
            <a:ext cx="36576" cy="12344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1207007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085"/>
                </a:solidFill>
                <a:latin typeface="Arial"/>
              </a:defRPr>
            </a:pPr>
            <a:r>
              <a:t>Communities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207007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6A085"/>
                </a:solidFill>
                <a:latin typeface="Arial"/>
              </a:defRPr>
            </a:pPr>
            <a:r>
              <a:t>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8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Slack groups, Discord, Reddit, industry forums with value-first approach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560320"/>
            <a:ext cx="2606040" cy="12344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560320"/>
            <a:ext cx="36576" cy="1234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6700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Arial"/>
              </a:defRPr>
            </a:pPr>
            <a:r>
              <a:t>Cold Outreach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67004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6B6B"/>
                </a:solidFill>
                <a:latin typeface="Arial"/>
              </a:defRPr>
            </a:pPr>
            <a:r>
              <a:t>$50-100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0175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Personalized emails to ICP, use Apollo.io free tier, warm intros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2560320"/>
            <a:ext cx="2606040" cy="12344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2560320"/>
            <a:ext cx="36576" cy="1234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26700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Arial"/>
              </a:defRPr>
            </a:pPr>
            <a:r>
              <a:t>Partnerships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267004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6B6B"/>
                </a:solidFill>
                <a:latin typeface="Arial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30175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Complementary tools, agencies, consultants for mutual referrals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2560320"/>
            <a:ext cx="2606040" cy="12344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2560320"/>
            <a:ext cx="36576" cy="1234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8" y="26700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Arial"/>
              </a:defRPr>
            </a:pPr>
            <a:r>
              <a:t>Product Hunt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67004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6B6B"/>
                </a:solidFill>
                <a:latin typeface="Arial"/>
              </a:defRPr>
            </a:pPr>
            <a:r>
              <a:t>$0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53328" y="30175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Launch day strategy, hunter outreach, community preparation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Arial"/>
              </a:defRPr>
            </a:pPr>
            <a:r>
              <a:t>Green = Free channels | Coral = Low-cost channels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"/>
              </a:defRPr>
            </a:pPr>
            <a:r>
              <a:t>Content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Arial"/>
              </a:defRPr>
            </a:pPr>
            <a:r>
              <a:t>Build Authority Before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085"/>
                </a:solidFill>
                <a:latin typeface="Arial"/>
              </a:defRPr>
            </a:pPr>
            <a:r>
              <a:t>CONTENT PILLARS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840480" cy="7772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rial"/>
              </a:defRPr>
            </a:pPr>
            <a:r>
              <a:t>Educational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Arial"/>
              </a:defRPr>
            </a:pPr>
            <a:r>
              <a:t>How-to guides, tutorials, industry insights that solve real problems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3840480" cy="7772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rial"/>
              </a:defRPr>
            </a:pPr>
            <a:r>
              <a:t>Thought Leadership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Arial"/>
              </a:defRPr>
            </a:pPr>
            <a:r>
              <a:t>Industry trends, predictions, contrarian viewpoints that spark discussion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3840480" cy="7772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rial"/>
              </a:defRPr>
            </a:pPr>
            <a:r>
              <a:t>Behind-the-Scenes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290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Arial"/>
              </a:defRPr>
            </a:pPr>
            <a:r>
              <a:t>Building in public, founder journey, product development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0515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Arial"/>
              </a:defRPr>
            </a:pPr>
            <a:r>
              <a:t>WEEKLY CONTENT RHYTHM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371600"/>
            <a:ext cx="4114800" cy="25603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09160" y="1508760"/>
            <a:ext cx="685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1554480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085"/>
                </a:solidFill>
                <a:latin typeface="Arial"/>
              </a:defRPr>
            </a:pPr>
            <a:r>
              <a:t>MON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755648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F5F5"/>
                </a:solidFill>
                <a:latin typeface="Arial"/>
              </a:defRPr>
            </a:pPr>
            <a:r>
              <a:t>LinkedIn post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1508760"/>
            <a:ext cx="685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1554480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085"/>
                </a:solidFill>
                <a:latin typeface="Arial"/>
              </a:defRPr>
            </a:pPr>
            <a:r>
              <a:t>TUE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1755648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F5F5"/>
                </a:solidFill>
                <a:latin typeface="Arial"/>
              </a:defRPr>
            </a:pPr>
            <a:r>
              <a:t>Blog post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508760"/>
            <a:ext cx="685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554480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085"/>
                </a:solidFill>
                <a:latin typeface="Arial"/>
              </a:defRPr>
            </a:pPr>
            <a:r>
              <a:t>WED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755648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F5F5"/>
                </a:solidFill>
                <a:latin typeface="Arial"/>
              </a:defRPr>
            </a:pPr>
            <a:r>
              <a:t>LinkedIn + engage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1508760"/>
            <a:ext cx="685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1554480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Arial"/>
              </a:defRPr>
            </a:pPr>
            <a:r>
              <a:t>THU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755648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F5F5"/>
                </a:solidFill>
                <a:latin typeface="Arial"/>
              </a:defRPr>
            </a:pPr>
            <a:r>
              <a:t>Community value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1508760"/>
            <a:ext cx="68580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1554480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6B"/>
                </a:solidFill>
                <a:latin typeface="Arial"/>
              </a:defRPr>
            </a:pPr>
            <a:r>
              <a:t>FRI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1755648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F5F5"/>
                </a:solidFill>
                <a:latin typeface="Arial"/>
              </a:defRPr>
            </a:pPr>
            <a:r>
              <a:t>Build in public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23317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5F5"/>
                </a:solidFill>
                <a:latin typeface="Arial"/>
              </a:defRPr>
            </a:pPr>
            <a:r>
              <a:t>Monthly Output Goals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2606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Arial"/>
              </a:defRPr>
            </a:pPr>
            <a:r>
              <a:t>4 blog posts  •  12+ LinkedIn posts  •  8 community contributions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Arial"/>
              </a:defRPr>
            </a:pPr>
            <a:r>
              <a:t>Time investment: ~8-10 hours/week for content creation and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"/>
              </a:defRPr>
            </a:pPr>
            <a:r>
              <a:t>LinkedIn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Arial"/>
              </a:defRPr>
            </a:pPr>
            <a:r>
              <a:t>Your #1 Free B2B Channel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4023360" cy="14630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5F5"/>
                </a:solidFill>
                <a:latin typeface="Arial"/>
              </a:defRPr>
            </a:pPr>
            <a:r>
              <a:t>Profile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FFF0"/>
                </a:solidFill>
                <a:latin typeface="Arial"/>
              </a:defRPr>
            </a:pPr>
            <a:r>
              <a:t>• Headline = Problem you solve, not job title</a:t>
            </a:r>
            <a:br/>
            <a:r>
              <a:t>• Banner = Visual CTA for your waitlist</a:t>
            </a:r>
            <a:br/>
            <a:r>
              <a:t>• About = Story + credibility + clear CTA</a:t>
            </a:r>
            <a:br/>
            <a:r>
              <a:t>• Featured = Waitlist link + best content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4023360" cy="13716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085"/>
                </a:solidFill>
                <a:latin typeface="Arial"/>
              </a:defRPr>
            </a:pPr>
            <a:r>
              <a:t>Post Formats That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6324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Arial"/>
              </a:defRPr>
            </a:pPr>
            <a:r>
              <a:t>Listicles  •  Contrarian takes  •  Carousels  •  Polls  •  Build in public  •  Mini case studies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051560"/>
            <a:ext cx="4023360" cy="13716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1430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Arial"/>
              </a:defRPr>
            </a:pPr>
            <a:r>
              <a:t>Daily Engagement Routine (30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41732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• Comment on 10 posts from ICP/influencers</a:t>
            </a:r>
            <a:br/>
            <a:r>
              <a:t>• Respond to all comments on your posts</a:t>
            </a:r>
            <a:br/>
            <a:r>
              <a:t>• Send 5 personalized connection requests</a:t>
            </a:r>
            <a:br/>
            <a:r>
              <a:t>• Reply to DMs with value, not pitch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560320"/>
            <a:ext cx="4023360" cy="1463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6517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Arial"/>
              </a:defRPr>
            </a:pPr>
            <a:r>
              <a:t>DM Approach (No Pitch)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2926080"/>
            <a:ext cx="3749039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9718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Arial"/>
              </a:defRPr>
            </a:pPr>
            <a:r>
              <a:t>"Hey [Name], loved your post about [topic]. We're building something in this space and would love your perspective. Would a 15-min call work?"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Arial"/>
              </a:defRPr>
            </a:pPr>
            <a:r>
              <a:t>Post between 8-10am local time for best engagement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"/>
              </a:defRPr>
            </a:pPr>
            <a:r>
              <a:t>Waitlist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Arial"/>
              </a:defRPr>
            </a:pPr>
            <a:r>
              <a:t>Convert Interest into Committed Prospects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085"/>
                </a:solidFill>
                <a:latin typeface="Arial"/>
              </a:defRPr>
            </a:pPr>
            <a:r>
              <a:t>LANDING PAGE ESSENTIALS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3840480" cy="22860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5"/>
                </a:solidFill>
                <a:latin typeface="Arial"/>
              </a:defRPr>
            </a:pPr>
            <a:r>
              <a:t>• Clear headline: Problem + solution in one line</a:t>
            </a:r>
            <a:br/>
            <a:r>
              <a:t>• Social proof: Logos, testimonials, or "Join X others"</a:t>
            </a:r>
            <a:br/>
            <a:r>
              <a:t>• Benefit bullets: 3-5 key outcomes, not features</a:t>
            </a:r>
            <a:br/>
            <a:r>
              <a:t>• Urgency: "Limited beta spots" or early-bird pricing</a:t>
            </a:r>
            <a:br/>
            <a:r>
              <a:t>• Simple form: Email only (add more later)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03320"/>
            <a:ext cx="3840480" cy="73152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7947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5F5"/>
                </a:solidFill>
                <a:latin typeface="Arial"/>
              </a:defRPr>
            </a:pPr>
            <a:r>
              <a:t>Free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233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FFF0"/>
                </a:solidFill>
                <a:latin typeface="Arial"/>
              </a:defRPr>
            </a:pPr>
            <a:r>
              <a:t>Carrd, Typedream, Notion + Super, or Framer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0515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Arial"/>
              </a:defRPr>
            </a:pPr>
            <a:r>
              <a:t>EMAIL NURTURE SEQUENCE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325880"/>
            <a:ext cx="4114800" cy="27432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9160" y="1463040"/>
            <a:ext cx="640080" cy="3200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4813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5F5"/>
                </a:solidFill>
                <a:latin typeface="Arial"/>
              </a:defRPr>
            </a:pPr>
            <a:r>
              <a:t>Day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14813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Welcome + What to expect + Quick win resource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1920240"/>
            <a:ext cx="640080" cy="3200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1938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5F5"/>
                </a:solidFill>
                <a:latin typeface="Arial"/>
              </a:defRPr>
            </a:pPr>
            <a:r>
              <a:t>Day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19385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Your story: Why you're building this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2377440"/>
            <a:ext cx="640080" cy="3200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23957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5F5"/>
                </a:solidFill>
                <a:latin typeface="Arial"/>
              </a:defRPr>
            </a:pPr>
            <a:r>
              <a:t>Day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3957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Educational content (blog post or guide)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2834640"/>
            <a:ext cx="640080" cy="3200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28529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5F5"/>
                </a:solidFill>
                <a:latin typeface="Arial"/>
              </a:defRPr>
            </a:pPr>
            <a:r>
              <a:t>Day 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28529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Product sneak peek + feedback request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3291840"/>
            <a:ext cx="640080" cy="320040"/>
          </a:xfrm>
          <a:prstGeom prst="round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33101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5F5"/>
                </a:solidFill>
                <a:latin typeface="Arial"/>
              </a:defRPr>
            </a:pPr>
            <a:r>
              <a:t>Ongoing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33101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Monthly updates on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3840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Arial"/>
              </a:defRPr>
            </a:pPr>
            <a:r>
              <a:t>Pro tip: Use MailerLite or Buttondown free tier for up to 1,000 subscribers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Arial"/>
              </a:defRPr>
            </a:pPr>
            <a:r>
              <a:t>Goal: 100 qualified signups before launch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"/>
              </a:defRPr>
            </a:pPr>
            <a:r>
              <a:t>Outreach Tactics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Arial"/>
              </a:defRPr>
            </a:pPr>
            <a:r>
              <a:t>Personalized Approaches That Get Responses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411480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5F5"/>
                </a:solidFill>
                <a:latin typeface="Arial"/>
              </a:defRPr>
            </a:pPr>
            <a:r>
              <a:t>Cold Email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FFF0"/>
                </a:solidFill>
                <a:latin typeface="Arial"/>
              </a:defRPr>
            </a:pPr>
            <a:r>
              <a:t>Keep it under 100 words. One ask. No attachments.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4114800" cy="22860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920240"/>
            <a:ext cx="3840480" cy="19202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A085"/>
                </a:solidFill>
                <a:latin typeface="Arial"/>
              </a:defRPr>
            </a:pPr>
            <a:r>
              <a:t>SUBJECT: Quick question about [their recent post]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Arial"/>
              </a:defRPr>
            </a:pPr>
            <a:r>
              <a:t>Hi [Name],</a:t>
            </a:r>
            <a:br/>
            <a:br/>
            <a:r>
              <a:t>Saw your [specific thing]. Really resonated.</a:t>
            </a:r>
            <a:br/>
            <a:br/>
            <a:r>
              <a:t>We're building [one-line description] to help [their role] with [pain point].</a:t>
            </a:r>
            <a:br/>
            <a:br/>
            <a:r>
              <a:t>Would you be open to a 15-min call? Happy to share early access in return.</a:t>
            </a:r>
            <a:br/>
            <a:br/>
            <a:r>
              <a:t>[Your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Arial"/>
              </a:defRPr>
            </a:pPr>
            <a:r>
              <a:t>Response rate goal: 5-10%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051560"/>
            <a:ext cx="4023360" cy="18288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1430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Arial"/>
              </a:defRPr>
            </a:pPr>
            <a:r>
              <a:t>Where to Find Prospects (Free)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41732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• LinkedIn Sales Navigator: Free trial</a:t>
            </a:r>
            <a:br/>
            <a:r>
              <a:t>• Apollo.io: 50 free credits/month</a:t>
            </a:r>
            <a:br/>
            <a:r>
              <a:t>• Twitter/X lists: Industry thought leaders</a:t>
            </a:r>
            <a:br/>
            <a:r>
              <a:t>• G2/Capterra reviews: Competitor users</a:t>
            </a:r>
            <a:br/>
            <a:r>
              <a:t>• Job boards: Companies hiring for your ICP 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971800"/>
            <a:ext cx="4023360" cy="10972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30632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Arial"/>
              </a:defRPr>
            </a:pPr>
            <a:r>
              <a:t>Outreach Cadence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337560"/>
            <a:ext cx="1143000" cy="5943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336499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A085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Arial"/>
              </a:defRPr>
            </a:pPr>
            <a:r>
              <a:t>emails/week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337560"/>
            <a:ext cx="1143000" cy="5943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336499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6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Arial"/>
              </a:defRPr>
            </a:pPr>
            <a:r>
              <a:t>follow-ups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337560"/>
            <a:ext cx="1143000" cy="5943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336499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F5F5"/>
                </a:solidFill>
                <a:latin typeface="Arial"/>
              </a:defRPr>
            </a:pPr>
            <a:r>
              <a:t>5-10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Arial"/>
              </a:defRPr>
            </a:pPr>
            <a:r>
              <a:t>calls/week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Arial"/>
              </a:defRPr>
            </a:pPr>
            <a:r>
              <a:t>Always personalize first line - generic outreach gets ignored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"/>
              </a:defRPr>
            </a:pPr>
            <a:r>
              <a:t>Launch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Arial"/>
              </a:defRPr>
            </a:pPr>
            <a:r>
              <a:t>Everything Ready Before You Go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2651760" cy="4114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5F5"/>
                </a:solidFill>
                <a:latin typeface="Arial"/>
              </a:defRPr>
            </a:pPr>
            <a:r>
              <a:t>2 WEEKS BEFORE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651760" cy="23774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• Finalize Product Hunt assets</a:t>
            </a:r>
            <a:br/>
            <a:r>
              <a:t>• Line up a hunter (optional)</a:t>
            </a:r>
            <a:br/>
            <a:r>
              <a:t>• Prepare launch email draft</a:t>
            </a:r>
            <a:br/>
            <a:r>
              <a:t>• Create social media graphics</a:t>
            </a:r>
            <a:br/>
            <a:r>
              <a:t>• Reach out to supporters</a:t>
            </a:r>
            <a:br/>
            <a:r>
              <a:t>• Set up analytics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051560"/>
            <a:ext cx="2651760" cy="4114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1155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5F5"/>
                </a:solidFill>
                <a:latin typeface="Arial"/>
              </a:defRPr>
            </a:pPr>
            <a:r>
              <a:t>LAUNCH WEEK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463040"/>
            <a:ext cx="2651760" cy="23774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544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• Product Hunt: Tuesday 12:01am PT</a:t>
            </a:r>
            <a:br/>
            <a:r>
              <a:t>• Email entire waitlist</a:t>
            </a:r>
            <a:br/>
            <a:r>
              <a:t>• Post across all social channels</a:t>
            </a:r>
            <a:br/>
            <a:r>
              <a:t>• Personal outreach to network</a:t>
            </a:r>
            <a:br/>
            <a:r>
              <a:t>• Engage with every comment</a:t>
            </a:r>
            <a:br/>
            <a:r>
              <a:t>• Cross-post to communities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051560"/>
            <a:ext cx="2651760" cy="4114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1155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5F5"/>
                </a:solidFill>
                <a:latin typeface="Arial"/>
              </a:defRPr>
            </a:pPr>
            <a:r>
              <a:t>POST-LAUNCH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63040"/>
            <a:ext cx="2651760" cy="23774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544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• Follow up with new signups</a:t>
            </a:r>
            <a:br/>
            <a:r>
              <a:t>• Collect and share testimonials</a:t>
            </a:r>
            <a:br/>
            <a:r>
              <a:t>• Write launch recap post</a:t>
            </a:r>
            <a:br/>
            <a:r>
              <a:t>• Analyze what worked</a:t>
            </a:r>
            <a:br/>
            <a:r>
              <a:t>• Double down on top channels</a:t>
            </a:r>
            <a:br/>
            <a:r>
              <a:t>• Start customer success calls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23360"/>
            <a:ext cx="8229600" cy="502920"/>
          </a:xfrm>
          <a:prstGeom prst="roundRect">
            <a:avLst/>
          </a:prstGeom>
          <a:solidFill>
            <a:srgbClr val="0E3D35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6A085"/>
                </a:solidFill>
                <a:latin typeface="Arial"/>
              </a:defRPr>
            </a:pPr>
            <a:r>
              <a:t>Pro tip: Tuesday-Thursday launches perform best. Avoid Fridays, weekends, and holidays.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"/>
              </a:defRPr>
            </a:pPr>
            <a:r>
              <a:t>Metrics That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Arial"/>
              </a:defRPr>
            </a:pPr>
            <a:r>
              <a:t>Track Progress, Not Vanity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085"/>
                </a:solidFill>
                <a:latin typeface="Arial"/>
              </a:defRPr>
            </a:pPr>
            <a:r>
              <a:t>PRIMARY KPIS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3840480" cy="8686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rial"/>
              </a:defRPr>
            </a:pPr>
            <a:r>
              <a:t>Waitlist Signups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417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E0FFF0"/>
                </a:solidFill>
                <a:latin typeface="Arial"/>
              </a:defRPr>
            </a:pPr>
            <a:r>
              <a:t>100+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FFF0"/>
                </a:solidFill>
                <a:latin typeface="Arial"/>
              </a:defRPr>
            </a:pPr>
            <a:r>
              <a:t>Target by end of Week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3840480" cy="8686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rial"/>
              </a:defRPr>
            </a:pPr>
            <a:r>
              <a:t>Demo/Call Bookings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77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6A085"/>
                </a:solidFill>
                <a:latin typeface="Arial"/>
              </a:defRPr>
            </a:pPr>
            <a:r>
              <a:t>20+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Arial"/>
              </a:defRPr>
            </a:pPr>
            <a:r>
              <a:t>Discovery calls with ICP prospects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46120"/>
            <a:ext cx="3840480" cy="8686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37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rial"/>
              </a:defRPr>
            </a:pPr>
            <a:r>
              <a:t>Beta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337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6B6B"/>
                </a:solidFill>
                <a:latin typeface="Arial"/>
              </a:defRPr>
            </a:pPr>
            <a:r>
              <a:t>10-25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6118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Arial"/>
              </a:defRPr>
            </a:pPr>
            <a:r>
              <a:t>Active users providing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0515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Arial"/>
              </a:defRPr>
            </a:pPr>
            <a:r>
              <a:t>ACTIVITY METRICS (WEEKLY)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1325880"/>
            <a:ext cx="4114800" cy="27432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09160" y="1463040"/>
            <a:ext cx="1188720" cy="685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1508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A085"/>
                </a:solidFill>
                <a:latin typeface="Arial"/>
              </a:defRPr>
            </a:pPr>
            <a:r>
              <a:t>3-5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18105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Arial"/>
              </a:defRPr>
            </a:pPr>
            <a:r>
              <a:t>LinkedIn posts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1463040"/>
            <a:ext cx="1188720" cy="685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1508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A085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18105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Arial"/>
              </a:defRPr>
            </a:pPr>
            <a:r>
              <a:t>cold emails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1463040"/>
            <a:ext cx="1188720" cy="685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1508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6B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18105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Arial"/>
              </a:defRPr>
            </a:pPr>
            <a:r>
              <a:t>blog 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22860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F5F5"/>
                </a:solidFill>
                <a:latin typeface="Arial"/>
              </a:defRPr>
            </a:pPr>
            <a:r>
              <a:t>Engagement Benchmarks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25603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Arial"/>
              </a:defRPr>
            </a:pPr>
            <a:r>
              <a:t>Email open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27432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085"/>
                </a:solidFill>
                <a:latin typeface="Arial"/>
              </a:defRPr>
            </a:pPr>
            <a:r>
              <a:t>30-40%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25603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Arial"/>
              </a:defRPr>
            </a:pPr>
            <a:r>
              <a:t>Reply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27432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085"/>
                </a:solidFill>
                <a:latin typeface="Arial"/>
              </a:defRPr>
            </a:pPr>
            <a:r>
              <a:t>5-10%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25603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Arial"/>
              </a:defRPr>
            </a:pPr>
            <a:r>
              <a:t>Landing page CVR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27432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Arial"/>
              </a:defRPr>
            </a:pPr>
            <a:r>
              <a:t>10-20%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Arial"/>
              </a:defRPr>
            </a:pPr>
            <a:r>
              <a:t>Track in a simple spreadsheet - don't over-engineer your analytics stack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Arial"/>
              </a:defRPr>
            </a:pPr>
            <a:r>
              <a:t>Your First Week Action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4754880" cy="22860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5F5"/>
                </a:solidFill>
                <a:latin typeface="Arial"/>
              </a:defRPr>
            </a:pPr>
            <a:r>
              <a:t>This Week (3-4 hours)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508760"/>
            <a:ext cx="228600" cy="228600"/>
          </a:xfrm>
          <a:prstGeom prst="ellipse">
            <a:avLst/>
          </a:prstGeom>
          <a:solidFill>
            <a:srgbClr val="0E6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5F5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FFF0"/>
                </a:solidFill>
                <a:latin typeface="Arial"/>
              </a:defRPr>
            </a:pPr>
            <a:r>
              <a:t>Define your ICP: Job title, company size, industry, pain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1965960"/>
            <a:ext cx="228600" cy="228600"/>
          </a:xfrm>
          <a:prstGeom prst="ellipse">
            <a:avLst/>
          </a:prstGeom>
          <a:solidFill>
            <a:srgbClr val="0E6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5F5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FFF0"/>
                </a:solidFill>
                <a:latin typeface="Arial"/>
              </a:defRPr>
            </a:pPr>
            <a:r>
              <a:t>Set up landing page with waitlist (Carrd or Typedream)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423160"/>
            <a:ext cx="228600" cy="228600"/>
          </a:xfrm>
          <a:prstGeom prst="ellipse">
            <a:avLst/>
          </a:prstGeom>
          <a:solidFill>
            <a:srgbClr val="0E6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5F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FFF0"/>
                </a:solidFill>
                <a:latin typeface="Arial"/>
              </a:defRPr>
            </a:pPr>
            <a:r>
              <a:t>Optimize your LinkedIn profile with clear value prop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2880360"/>
            <a:ext cx="228600" cy="228600"/>
          </a:xfrm>
          <a:prstGeom prst="ellipse">
            <a:avLst/>
          </a:prstGeom>
          <a:solidFill>
            <a:srgbClr val="0E6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8036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5F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FFF0"/>
                </a:solidFill>
                <a:latin typeface="Arial"/>
              </a:defRPr>
            </a:pPr>
            <a:r>
              <a:t>Write and schedule your first 3 LinkedIn posts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29000"/>
            <a:ext cx="4754880" cy="640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52044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Arial"/>
              </a:defRPr>
            </a:pPr>
            <a:r>
              <a:t>Week 2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749039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Arial"/>
              </a:defRPr>
            </a:pPr>
            <a:r>
              <a:t>List 50 target accounts and begin personalized outreach to first 10 prospects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1051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085"/>
                </a:solidFill>
                <a:latin typeface="Arial"/>
              </a:defRPr>
            </a:pPr>
            <a:r>
              <a:t>FREE TOOLS TO START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1325880"/>
            <a:ext cx="3291840" cy="23317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32120" y="1463040"/>
            <a:ext cx="1097280" cy="3200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1481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5F5"/>
                </a:solidFill>
                <a:latin typeface="Arial"/>
              </a:defRPr>
            </a:pPr>
            <a:r>
              <a:t>Landing Page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14813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Arial"/>
              </a:defRPr>
            </a:pPr>
            <a:r>
              <a:t>Carrd, Typedream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32120" y="1901952"/>
            <a:ext cx="1097280" cy="3200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1920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5F5"/>
                </a:solidFill>
                <a:latin typeface="Arial"/>
              </a:defRPr>
            </a:pPr>
            <a:r>
              <a:t>Email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Arial"/>
              </a:defRPr>
            </a:pPr>
            <a:r>
              <a:t>MailerLite, Buttondown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32120" y="2340864"/>
            <a:ext cx="1097280" cy="3200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23591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5F5"/>
                </a:solidFill>
                <a:latin typeface="Arial"/>
              </a:defRPr>
            </a:pPr>
            <a:r>
              <a:t>Prospecting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359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Arial"/>
              </a:defRPr>
            </a:pPr>
            <a:r>
              <a:t>Apollo.io, LinkedIn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32120" y="2779776"/>
            <a:ext cx="1097280" cy="3200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27980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5F5"/>
                </a:solidFill>
                <a:latin typeface="Arial"/>
              </a:defRPr>
            </a:pPr>
            <a:r>
              <a:t>Scheduling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27980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Arial"/>
              </a:defRPr>
            </a:pPr>
            <a:r>
              <a:t>Calendly, Cal.com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32120" y="3218688"/>
            <a:ext cx="1097280" cy="320040"/>
          </a:xfrm>
          <a:prstGeom prst="round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32120" y="32369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5F5"/>
                </a:solidFill>
                <a:latin typeface="Arial"/>
              </a:defRPr>
            </a:pPr>
            <a:r>
              <a:t>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2369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5F5"/>
                </a:solidFill>
                <a:latin typeface="Arial"/>
              </a:defRPr>
            </a:pPr>
            <a:r>
              <a:t>Plausible, Google Analytics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297680"/>
            <a:ext cx="8229600" cy="502920"/>
          </a:xfrm>
          <a:prstGeom prst="roundRect">
            <a:avLst/>
          </a:prstGeom>
          <a:solidFill>
            <a:srgbClr val="4D2A2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Arial"/>
              </a:defRPr>
            </a:pPr>
            <a:r>
              <a:t>Start today. Your first customer is closer than you think.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